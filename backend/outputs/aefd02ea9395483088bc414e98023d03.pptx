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1</a:t>
            </a:r>
          </a:p>
        </p:txBody>
      </p:sp>
      <p:pic>
        <p:nvPicPr>
          <p:cNvPr id="7" name="Picture 6" descr="college_logo.png"/>
          <p:cNvPicPr>
            <a:picLocks noChangeAspect="1"/>
          </p:cNvPicPr>
          <p:nvPr/>
        </p:nvPicPr>
        <p:blipFill>
          <a:blip r:embed="rId2"/>
          <a:stretch>
            <a:fillRect/>
          </a:stretch>
        </p:blipFill>
        <p:spPr>
          <a:xfrm>
            <a:off x="1339596" y="374904"/>
            <a:ext cx="1169517" cy="1092708"/>
          </a:xfrm>
          <a:prstGeom prst="rect">
            <a:avLst/>
          </a:prstGeom>
        </p:spPr>
      </p:pic>
      <p:sp>
        <p:nvSpPr>
          <p:cNvPr id="8" name="TextBox 7"/>
          <p:cNvSpPr txBox="1"/>
          <p:nvPr/>
        </p:nvSpPr>
        <p:spPr>
          <a:xfrm>
            <a:off x="2560320" y="374904"/>
            <a:ext cx="5303520" cy="1097280"/>
          </a:xfrm>
          <a:prstGeom prst="rect">
            <a:avLst/>
          </a:prstGeom>
          <a:noFill/>
        </p:spPr>
        <p:txBody>
          <a:bodyPr wrap="square" lIns="0" rIns="0" tIns="0" bIns="0">
            <a:spAutoFit/>
          </a:bodyPr>
          <a:lstStyle/>
          <a:p>
            <a:pPr algn="ctr">
              <a:lnSpc>
                <a:spcPct val="115000"/>
              </a:lnSpc>
            </a:pPr>
            <a:r>
              <a:rPr sz="1800" b="1">
                <a:solidFill>
                  <a:srgbClr val="000000"/>
                </a:solidFill>
                <a:latin typeface="Times New Roman"/>
              </a:rPr>
              <a:t>22UAD607- FINAL YEAR PROJECT</a:t>
            </a:r>
          </a:p>
          <a:p>
            <a:pPr algn="ctr">
              <a:lnSpc>
                <a:spcPct val="115000"/>
              </a:lnSpc>
            </a:pPr>
            <a:r>
              <a:rPr sz="1800" b="1">
                <a:solidFill>
                  <a:srgbClr val="000000"/>
                </a:solidFill>
                <a:latin typeface="Times New Roman"/>
              </a:rPr>
              <a:t>FOURTH REVIEW</a:t>
            </a:r>
          </a:p>
        </p:txBody>
      </p:sp>
      <p:sp>
        <p:nvSpPr>
          <p:cNvPr id="9" name="TextBox 8"/>
          <p:cNvSpPr txBox="1"/>
          <p:nvPr/>
        </p:nvSpPr>
        <p:spPr>
          <a:xfrm>
            <a:off x="1261872" y="1828800"/>
            <a:ext cx="7333488" cy="1371600"/>
          </a:xfrm>
          <a:prstGeom prst="rect">
            <a:avLst/>
          </a:prstGeom>
          <a:noFill/>
        </p:spPr>
        <p:txBody>
          <a:bodyPr wrap="square" lIns="0" rIns="0" tIns="0" bIns="0" anchor="ctr">
            <a:spAutoFit/>
          </a:bodyPr>
          <a:lstStyle/>
          <a:p>
            <a:pPr algn="ctr">
              <a:lnSpc>
                <a:spcPct val="115000"/>
              </a:lnSpc>
            </a:pPr>
            <a:r>
              <a:rPr sz="2400" b="1">
                <a:solidFill>
                  <a:srgbClr val="000000"/>
                </a:solidFill>
                <a:latin typeface="Times New Roman"/>
              </a:rPr>
              <a:t> Multilingual Campus Assistant: A Chatbot and IVR-Based Solution </a:t>
            </a:r>
          </a:p>
        </p:txBody>
      </p:sp>
      <p:sp>
        <p:nvSpPr>
          <p:cNvPr id="10" name="TextBox 9"/>
          <p:cNvSpPr txBox="1"/>
          <p:nvPr/>
        </p:nvSpPr>
        <p:spPr>
          <a:xfrm>
            <a:off x="1325880" y="3383280"/>
            <a:ext cx="4206240" cy="320040"/>
          </a:xfrm>
          <a:prstGeom prst="rect">
            <a:avLst/>
          </a:prstGeom>
          <a:noFill/>
        </p:spPr>
        <p:txBody>
          <a:bodyPr wrap="square" lIns="0" rIns="0" tIns="0" bIns="0">
            <a:spAutoFit/>
          </a:bodyPr>
          <a:lstStyle/>
          <a:p>
            <a:pPr algn="l"/>
            <a:r>
              <a:rPr sz="1800" b="0" i="1">
                <a:solidFill>
                  <a:srgbClr val="000000"/>
                </a:solidFill>
                <a:latin typeface="Times New Roman"/>
              </a:rPr>
              <a:t>Presented by,</a:t>
            </a:r>
          </a:p>
        </p:txBody>
      </p:sp>
      <p:sp>
        <p:nvSpPr>
          <p:cNvPr id="11" name="TextBox 10"/>
          <p:cNvSpPr txBox="1"/>
          <p:nvPr/>
        </p:nvSpPr>
        <p:spPr>
          <a:xfrm>
            <a:off x="1376172" y="3810304"/>
            <a:ext cx="2651760" cy="2011680"/>
          </a:xfrm>
          <a:prstGeom prst="rect">
            <a:avLst/>
          </a:prstGeom>
          <a:noFill/>
        </p:spPr>
        <p:txBody>
          <a:bodyPr wrap="square" lIns="0" rIns="0" tIns="0" bIns="0">
            <a:spAutoFit/>
          </a:bodyPr>
          <a:lstStyle/>
          <a:p>
            <a:pPr algn="l">
              <a:lnSpc>
                <a:spcPct val="115000"/>
              </a:lnSpc>
              <a:spcAft>
                <a:spcPts val="600"/>
              </a:spcAft>
            </a:pPr>
            <a:r>
              <a:rPr sz="1600" b="0">
                <a:solidFill>
                  <a:srgbClr val="000000"/>
                </a:solidFill>
                <a:latin typeface="Times New Roman"/>
              </a:rPr>
              <a:t>HARIPRASATH L V</a:t>
            </a:r>
          </a:p>
          <a:p>
            <a:pPr algn="l">
              <a:lnSpc>
                <a:spcPct val="115000"/>
              </a:lnSpc>
              <a:spcAft>
                <a:spcPts val="600"/>
              </a:spcAft>
            </a:pPr>
            <a:r>
              <a:rPr sz="1600" b="0">
                <a:solidFill>
                  <a:srgbClr val="000000"/>
                </a:solidFill>
                <a:latin typeface="Times New Roman"/>
              </a:rPr>
              <a:t>RAM KUMAR</a:t>
            </a:r>
          </a:p>
          <a:p>
            <a:pPr algn="l">
              <a:lnSpc>
                <a:spcPct val="115000"/>
              </a:lnSpc>
              <a:spcAft>
                <a:spcPts val="600"/>
              </a:spcAft>
            </a:pPr>
            <a:r>
              <a:rPr sz="1600" b="0">
                <a:solidFill>
                  <a:srgbClr val="000000"/>
                </a:solidFill>
                <a:latin typeface="Times New Roman"/>
              </a:rPr>
              <a:t>SURESH</a:t>
            </a:r>
          </a:p>
        </p:txBody>
      </p:sp>
      <p:sp>
        <p:nvSpPr>
          <p:cNvPr id="12" name="TextBox 11"/>
          <p:cNvSpPr txBox="1"/>
          <p:nvPr/>
        </p:nvSpPr>
        <p:spPr>
          <a:xfrm>
            <a:off x="4069080" y="3810304"/>
            <a:ext cx="1463040" cy="2011680"/>
          </a:xfrm>
          <a:prstGeom prst="rect">
            <a:avLst/>
          </a:prstGeom>
          <a:noFill/>
        </p:spPr>
        <p:txBody>
          <a:bodyPr wrap="square" lIns="0" rIns="0" tIns="0" bIns="0">
            <a:spAutoFit/>
          </a:bodyPr>
          <a:lstStyle/>
          <a:p>
            <a:pPr algn="l">
              <a:lnSpc>
                <a:spcPct val="115000"/>
              </a:lnSpc>
              <a:spcAft>
                <a:spcPts val="600"/>
              </a:spcAft>
            </a:pPr>
            <a:r>
              <a:rPr sz="1600" b="0">
                <a:solidFill>
                  <a:srgbClr val="000000"/>
                </a:solidFill>
                <a:latin typeface="Times New Roman"/>
              </a:rPr>
              <a:t>(23AD047)</a:t>
            </a:r>
          </a:p>
          <a:p>
            <a:pPr algn="l">
              <a:lnSpc>
                <a:spcPct val="115000"/>
              </a:lnSpc>
              <a:spcAft>
                <a:spcPts val="600"/>
              </a:spcAft>
            </a:pPr>
            <a:r>
              <a:rPr sz="1600" b="0">
                <a:solidFill>
                  <a:srgbClr val="000000"/>
                </a:solidFill>
                <a:latin typeface="Times New Roman"/>
              </a:rPr>
              <a:t>(23AD047)</a:t>
            </a:r>
          </a:p>
          <a:p>
            <a:pPr algn="l">
              <a:lnSpc>
                <a:spcPct val="115000"/>
              </a:lnSpc>
              <a:spcAft>
                <a:spcPts val="600"/>
              </a:spcAft>
            </a:pPr>
            <a:r>
              <a:rPr sz="1600" b="0">
                <a:solidFill>
                  <a:srgbClr val="000000"/>
                </a:solidFill>
                <a:latin typeface="Times New Roman"/>
              </a:rPr>
              <a:t>(23AD047)</a:t>
            </a:r>
          </a:p>
        </p:txBody>
      </p:sp>
      <p:sp>
        <p:nvSpPr>
          <p:cNvPr id="13" name="TextBox 12"/>
          <p:cNvSpPr txBox="1"/>
          <p:nvPr/>
        </p:nvSpPr>
        <p:spPr>
          <a:xfrm>
            <a:off x="5669280" y="3383280"/>
            <a:ext cx="3108960" cy="2743200"/>
          </a:xfrm>
          <a:prstGeom prst="rect">
            <a:avLst/>
          </a:prstGeom>
          <a:noFill/>
        </p:spPr>
        <p:txBody>
          <a:bodyPr wrap="square" lIns="0" rIns="0" tIns="0" bIns="0">
            <a:spAutoFit/>
          </a:bodyPr>
          <a:lstStyle/>
          <a:p>
            <a:pPr algn="ctr">
              <a:lnSpc>
                <a:spcPct val="115000"/>
              </a:lnSpc>
              <a:spcAft>
                <a:spcPts val="1400"/>
              </a:spcAft>
            </a:pPr>
            <a:r>
              <a:rPr sz="1800" b="0" i="1">
                <a:solidFill>
                  <a:srgbClr val="000000"/>
                </a:solidFill>
                <a:latin typeface="Times New Roman"/>
              </a:rPr>
              <a:t>Under the Guidance of</a:t>
            </a:r>
          </a:p>
          <a:p>
            <a:pPr algn="ctr">
              <a:lnSpc>
                <a:spcPct val="115000"/>
              </a:lnSpc>
            </a:pPr>
            <a:r>
              <a:rPr sz="1600" b="1">
                <a:solidFill>
                  <a:srgbClr val="000000"/>
                </a:solidFill>
                <a:latin typeface="Times New Roman"/>
              </a:rPr>
              <a:t>Dr. I.DEVI,</a:t>
            </a:r>
          </a:p>
          <a:p>
            <a:pPr algn="ctr">
              <a:lnSpc>
                <a:spcPct val="115000"/>
              </a:lnSpc>
            </a:pPr>
            <a:r>
              <a:rPr sz="1400" b="1">
                <a:solidFill>
                  <a:srgbClr val="000000"/>
                </a:solidFill>
                <a:latin typeface="Times New Roman"/>
              </a:rPr>
              <a:t>ASSISTANT PROFESSOR</a:t>
            </a:r>
          </a:p>
          <a:p>
            <a:pPr algn="ctr">
              <a:lnSpc>
                <a:spcPct val="115000"/>
              </a:lnSpc>
            </a:pPr>
            <a:r>
              <a:rPr sz="1200" b="0">
                <a:solidFill>
                  <a:srgbClr val="000000"/>
                </a:solidFill>
                <a:latin typeface="Times New Roman"/>
              </a:rPr>
              <a:t>Department of Artificial Intelligence and Data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2</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Abstract</a:t>
            </a:r>
          </a:p>
        </p:txBody>
      </p:sp>
      <p:sp>
        <p:nvSpPr>
          <p:cNvPr id="8" name="TextBox 7"/>
          <p:cNvSpPr txBox="1"/>
          <p:nvPr/>
        </p:nvSpPr>
        <p:spPr>
          <a:xfrm>
            <a:off x="1261872" y="914400"/>
            <a:ext cx="7333488" cy="5394960"/>
          </a:xfrm>
          <a:prstGeom prst="rect">
            <a:avLst/>
          </a:prstGeom>
          <a:noFill/>
        </p:spPr>
        <p:txBody>
          <a:bodyPr wrap="square">
            <a:spAutoFit/>
          </a:bodyPr>
          <a:lstStyle/>
          <a:p>
            <a:pPr algn="just">
              <a:lnSpc>
                <a:spcPct val="115000"/>
              </a:lnSpc>
            </a:pPr>
            <a:r>
              <a:rPr sz="1600" b="0">
                <a:solidFill>
                  <a:srgbClr val="000000"/>
                </a:solidFill>
                <a:latin typeface="Times New Roman"/>
              </a:rPr>
              <a:t>This project is a multilingual, data-driven campus assistance system designed to provide intelligent and reliable access to official college information through an interactive website-integrated chatbot. The system organizes institutional data into a structured backend and delivers accurate responses to user queries related to admissions, fees, academics, scholarships,and campus services without manual staff involvement. By supporting multiple languages and guided, click-based interactions, the solution eliminates language barriers and ensures consistent, hallucination-free information delivery for students and parents. The platform operates continuously, reduces repetitive administrative workload, and enhances accessibility for diverse user groups. With its modular and scalable architecture, the system offers a practical foundation for future enhancements such as voice-based interaction and extended language support, making it suitable for real-world academic deployment.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3</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Problem Statement</a:t>
            </a:r>
          </a:p>
        </p:txBody>
      </p:sp>
      <p:sp>
        <p:nvSpPr>
          <p:cNvPr id="8" name="TextBox 7"/>
          <p:cNvSpPr txBox="1"/>
          <p:nvPr/>
        </p:nvSpPr>
        <p:spPr>
          <a:xfrm>
            <a:off x="1261872" y="914400"/>
            <a:ext cx="7333488" cy="5394960"/>
          </a:xfrm>
          <a:prstGeom prst="rect">
            <a:avLst/>
          </a:prstGeom>
          <a:noFill/>
        </p:spPr>
        <p:txBody>
          <a:bodyPr wrap="square">
            <a:spAutoFit/>
          </a:bodyPr>
          <a:lstStyle/>
          <a:p>
            <a:pPr algn="just">
              <a:lnSpc>
                <a:spcPct val="115000"/>
              </a:lnSpc>
              <a:spcAft>
                <a:spcPts val="600"/>
              </a:spcAft>
            </a:pPr>
            <a:r>
              <a:rPr sz="1600" b="1">
                <a:solidFill>
                  <a:srgbClr val="000000"/>
                </a:solidFill>
                <a:latin typeface="Times New Roman"/>
              </a:rPr>
              <a:t>• </a:t>
            </a:r>
            <a:r>
              <a:rPr sz="1600" b="0">
                <a:solidFill>
                  <a:srgbClr val="000000"/>
                </a:solidFill>
                <a:latin typeface="Times New Roman"/>
              </a:rPr>
              <a:t> Existing college websites are largely static, making it difficult to update academic, administrative, and departmental information in real time.</a:t>
            </a:r>
          </a:p>
          <a:p>
            <a:pPr algn="just">
              <a:lnSpc>
                <a:spcPct val="115000"/>
              </a:lnSpc>
              <a:spcAft>
                <a:spcPts val="600"/>
              </a:spcAft>
            </a:pPr>
            <a:r>
              <a:rPr sz="1600" b="1">
                <a:solidFill>
                  <a:srgbClr val="000000"/>
                </a:solidFill>
                <a:latin typeface="Times New Roman"/>
              </a:rPr>
              <a:t>• </a:t>
            </a:r>
            <a:r>
              <a:rPr sz="1600" b="0">
                <a:solidFill>
                  <a:srgbClr val="000000"/>
                </a:solidFill>
                <a:latin typeface="Times New Roman"/>
              </a:rPr>
              <a:t> Official college information is scattered across web pages, PDFs, and notices and is mostly available only in English, creating accessibility and language barriers.</a:t>
            </a:r>
          </a:p>
          <a:p>
            <a:pPr algn="just">
              <a:lnSpc>
                <a:spcPct val="115000"/>
              </a:lnSpc>
              <a:spcAft>
                <a:spcPts val="600"/>
              </a:spcAft>
            </a:pPr>
            <a:r>
              <a:rPr sz="1600" b="1">
                <a:solidFill>
                  <a:srgbClr val="000000"/>
                </a:solidFill>
                <a:latin typeface="Times New Roman"/>
              </a:rPr>
              <a:t>• </a:t>
            </a:r>
            <a:r>
              <a:rPr sz="1600" b="0">
                <a:solidFill>
                  <a:srgbClr val="000000"/>
                </a:solidFill>
                <a:latin typeface="Times New Roman"/>
              </a:rPr>
              <a:t> Students and parents must frequently depend on manual enquiries or office visits to obtain routine information such as admissions, fees, timetables, and scholarships.</a:t>
            </a:r>
          </a:p>
          <a:p>
            <a:pPr algn="just">
              <a:lnSpc>
                <a:spcPct val="115000"/>
              </a:lnSpc>
              <a:spcAft>
                <a:spcPts val="600"/>
              </a:spcAft>
            </a:pPr>
            <a:r>
              <a:rPr sz="1600" b="1">
                <a:solidFill>
                  <a:srgbClr val="000000"/>
                </a:solidFill>
                <a:latin typeface="Times New Roman"/>
              </a:rPr>
              <a:t>• </a:t>
            </a:r>
            <a:r>
              <a:rPr sz="1600" b="0">
                <a:solidFill>
                  <a:srgbClr val="000000"/>
                </a:solidFill>
                <a:latin typeface="Times New Roman"/>
              </a:rPr>
              <a:t> Administrative staff spend a significant portion of their time answering repetitive queries, leading to increased workload and reduced operational efficiency.</a:t>
            </a:r>
          </a:p>
          <a:p>
            <a:pPr algn="just">
              <a:lnSpc>
                <a:spcPct val="115000"/>
              </a:lnSpc>
              <a:spcAft>
                <a:spcPts val="600"/>
              </a:spcAft>
            </a:pPr>
            <a:r>
              <a:rPr sz="1600" b="1">
                <a:solidFill>
                  <a:srgbClr val="000000"/>
                </a:solidFill>
                <a:latin typeface="Times New Roman"/>
              </a:rPr>
              <a:t>• </a:t>
            </a:r>
            <a:r>
              <a:rPr sz="1600" b="0">
                <a:solidFill>
                  <a:srgbClr val="000000"/>
                </a:solidFill>
                <a:latin typeface="Times New Roman"/>
              </a:rPr>
              <a:t> There is a lack of an integrated, automated, and multilingual platform that combines dynamic content management with reliable, 24×7 user assistance.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4</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Literature survey</a:t>
            </a:r>
          </a:p>
        </p:txBody>
      </p:sp>
      <p:sp>
        <p:nvSpPr>
          <p:cNvPr id="8" name="TextBox 7"/>
          <p:cNvSpPr txBox="1"/>
          <p:nvPr/>
        </p:nvSpPr>
        <p:spPr>
          <a:xfrm>
            <a:off x="1261872" y="1005840"/>
            <a:ext cx="7333488" cy="5029200"/>
          </a:xfrm>
          <a:prstGeom prst="rect">
            <a:avLst/>
          </a:prstGeom>
          <a:noFill/>
        </p:spPr>
        <p:txBody>
          <a:bodyPr wrap="square">
            <a:spAutoFit/>
          </a:bodyPr>
          <a:lstStyle/>
          <a:p>
            <a:pPr algn="just">
              <a:lnSpc>
                <a:spcPct val="115000"/>
              </a:lnSpc>
            </a:pPr>
            <a:r>
              <a:rPr sz="1600" b="1">
                <a:solidFill>
                  <a:srgbClr val="000000"/>
                </a:solidFill>
                <a:latin typeface="Times New Roman"/>
              </a:rPr>
              <a:t>"IEEE Access Article: “Design and Implementation of a Web-Based Campus Information Management System”"</a:t>
            </a:r>
            <a:r>
              <a:rPr sz="1600" b="0">
                <a:solidFill>
                  <a:srgbClr val="000000"/>
                </a:solidFill>
                <a:latin typeface="Times New Roman"/>
              </a:rPr>
              <a:t/>
            </a:r>
          </a:p>
          <a:p>
            <a:pPr>
              <a:spcAft>
                <a:spcPts val="800"/>
              </a:spcAft>
            </a:pPr>
          </a:p>
          <a:p>
            <a:pPr algn="just">
              <a:lnSpc>
                <a:spcPct val="115000"/>
              </a:lnSpc>
            </a:pPr>
            <a:r>
              <a:rPr sz="1600" b="1">
                <a:solidFill>
                  <a:srgbClr val="000000"/>
                </a:solidFill>
                <a:latin typeface="Times New Roman"/>
              </a:rPr>
              <a:t>Authors: </a:t>
            </a:r>
            <a:r>
              <a:rPr sz="1600" b="0">
                <a:solidFill>
                  <a:srgbClr val="000000"/>
                </a:solidFill>
                <a:latin typeface="Times New Roman"/>
              </a:rPr>
              <a:t>R. Kumar, S. Nair</a:t>
            </a:r>
          </a:p>
          <a:p>
            <a:pPr>
              <a:spcAft>
                <a:spcPts val="800"/>
              </a:spcAft>
            </a:pPr>
          </a:p>
          <a:p>
            <a:pPr algn="just">
              <a:lnSpc>
                <a:spcPct val="115000"/>
              </a:lnSpc>
            </a:pPr>
            <a:r>
              <a:rPr sz="1600" b="1">
                <a:solidFill>
                  <a:srgbClr val="000000"/>
                </a:solidFill>
                <a:latin typeface="Times New Roman"/>
              </a:rPr>
              <a:t>Year: </a:t>
            </a:r>
            <a:r>
              <a:rPr sz="1600" b="0">
                <a:solidFill>
                  <a:srgbClr val="000000"/>
                </a:solidFill>
                <a:latin typeface="Times New Roman"/>
              </a:rPr>
              <a:t>2021</a:t>
            </a:r>
          </a:p>
          <a:p>
            <a:pPr>
              <a:spcAft>
                <a:spcPts val="800"/>
              </a:spcAft>
            </a:pPr>
          </a:p>
          <a:p>
            <a:pPr algn="just">
              <a:lnSpc>
                <a:spcPct val="115000"/>
              </a:lnSpc>
            </a:pPr>
            <a:r>
              <a:rPr sz="1600" b="1">
                <a:solidFill>
                  <a:srgbClr val="000000"/>
                </a:solidFill>
                <a:latin typeface="Times New Roman"/>
              </a:rPr>
              <a:t>Topics Covered: </a:t>
            </a:r>
            <a:r>
              <a:rPr sz="1600" b="0">
                <a:solidFill>
                  <a:srgbClr val="000000"/>
                </a:solidFill>
                <a:latin typeface="Times New Roman"/>
              </a:rPr>
              <a:t>Topics Covered: Dynamic web portals, centralized database management, role-based admin access, RESTful APIs for academic systems.</a:t>
            </a:r>
          </a:p>
          <a:p>
            <a:pPr>
              <a:spcAft>
                <a:spcPts val="800"/>
              </a:spcAft>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5</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Literature survey</a:t>
            </a:r>
          </a:p>
        </p:txBody>
      </p:sp>
      <p:sp>
        <p:nvSpPr>
          <p:cNvPr id="8" name="TextBox 7"/>
          <p:cNvSpPr txBox="1"/>
          <p:nvPr/>
        </p:nvSpPr>
        <p:spPr>
          <a:xfrm>
            <a:off x="1261872" y="1005840"/>
            <a:ext cx="7333488" cy="5029200"/>
          </a:xfrm>
          <a:prstGeom prst="rect">
            <a:avLst/>
          </a:prstGeom>
          <a:noFill/>
        </p:spPr>
        <p:txBody>
          <a:bodyPr wrap="square">
            <a:spAutoFit/>
          </a:bodyPr>
          <a:lstStyle/>
          <a:p>
            <a:pPr algn="just">
              <a:lnSpc>
                <a:spcPct val="115000"/>
              </a:lnSpc>
            </a:pPr>
            <a:r>
              <a:rPr sz="1600" b="1">
                <a:solidFill>
                  <a:srgbClr val="000000"/>
                </a:solidFill>
                <a:latin typeface="Times New Roman"/>
              </a:rPr>
              <a:t>"International Journal of Computer Applications (IJCA)_x000B_Article: “Multilingual Chatbot for Educational Institutions Using StructuredData”."</a:t>
            </a:r>
            <a:r>
              <a:rPr sz="1600" b="0">
                <a:solidFill>
                  <a:srgbClr val="000000"/>
                </a:solidFill>
                <a:latin typeface="Times New Roman"/>
              </a:rPr>
              <a:t/>
            </a:r>
          </a:p>
          <a:p>
            <a:pPr>
              <a:spcAft>
                <a:spcPts val="800"/>
              </a:spcAft>
            </a:pPr>
          </a:p>
          <a:p>
            <a:pPr algn="just">
              <a:lnSpc>
                <a:spcPct val="115000"/>
              </a:lnSpc>
            </a:pPr>
            <a:r>
              <a:rPr sz="1600" b="1">
                <a:solidFill>
                  <a:srgbClr val="000000"/>
                </a:solidFill>
                <a:latin typeface="Times New Roman"/>
              </a:rPr>
              <a:t>Authors: </a:t>
            </a:r>
            <a:r>
              <a:rPr sz="1600" b="0">
                <a:solidFill>
                  <a:srgbClr val="000000"/>
                </a:solidFill>
                <a:latin typeface="Times New Roman"/>
              </a:rPr>
              <a:t>A.Sharma,K.Patel</a:t>
            </a:r>
          </a:p>
          <a:p>
            <a:pPr>
              <a:spcAft>
                <a:spcPts val="800"/>
              </a:spcAft>
            </a:pPr>
          </a:p>
          <a:p>
            <a:pPr algn="just">
              <a:lnSpc>
                <a:spcPct val="115000"/>
              </a:lnSpc>
            </a:pPr>
            <a:r>
              <a:rPr sz="1600" b="1">
                <a:solidFill>
                  <a:srgbClr val="000000"/>
                </a:solidFill>
                <a:latin typeface="Times New Roman"/>
              </a:rPr>
              <a:t>Year: </a:t>
            </a:r>
            <a:r>
              <a:rPr sz="1600" b="0">
                <a:solidFill>
                  <a:srgbClr val="000000"/>
                </a:solidFill>
                <a:latin typeface="Times New Roman"/>
              </a:rPr>
              <a:t>2022</a:t>
            </a:r>
          </a:p>
          <a:p>
            <a:pPr>
              <a:spcAft>
                <a:spcPts val="800"/>
              </a:spcAft>
            </a:pPr>
          </a:p>
          <a:p>
            <a:pPr algn="just">
              <a:lnSpc>
                <a:spcPct val="115000"/>
              </a:lnSpc>
            </a:pPr>
            <a:r>
              <a:rPr sz="1600" b="1">
                <a:solidFill>
                  <a:srgbClr val="000000"/>
                </a:solidFill>
                <a:latin typeface="Times New Roman"/>
              </a:rPr>
              <a:t>Topics Covered: </a:t>
            </a:r>
            <a:r>
              <a:rPr sz="1600" b="0">
                <a:solidFill>
                  <a:srgbClr val="000000"/>
                </a:solidFill>
                <a:latin typeface="Times New Roman"/>
              </a:rPr>
              <a:t>Topics Covered: Multilingual chatbot design, rule-based interaction models, educational query handling, accuracy-focused chatbot systems.</a:t>
            </a:r>
          </a:p>
          <a:p>
            <a:pPr>
              <a:spcAft>
                <a:spcPts val="800"/>
              </a:spcAft>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6</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Literature survey</a:t>
            </a:r>
          </a:p>
        </p:txBody>
      </p:sp>
      <p:sp>
        <p:nvSpPr>
          <p:cNvPr id="8" name="TextBox 7"/>
          <p:cNvSpPr txBox="1"/>
          <p:nvPr/>
        </p:nvSpPr>
        <p:spPr>
          <a:xfrm>
            <a:off x="1261872" y="1005840"/>
            <a:ext cx="7333488" cy="5029200"/>
          </a:xfrm>
          <a:prstGeom prst="rect">
            <a:avLst/>
          </a:prstGeom>
          <a:noFill/>
        </p:spPr>
        <p:txBody>
          <a:bodyPr wrap="square">
            <a:spAutoFit/>
          </a:bodyPr>
          <a:lstStyle/>
          <a:p>
            <a:pPr algn="just">
              <a:lnSpc>
                <a:spcPct val="115000"/>
              </a:lnSpc>
            </a:pPr>
            <a:r>
              <a:rPr sz="1600" b="1">
                <a:solidFill>
                  <a:srgbClr val="000000"/>
                </a:solidFill>
                <a:latin typeface="Times New Roman"/>
              </a:rPr>
              <a:t>"“Multilingual Chatbot for Educational Institutions Using StructuredData”."</a:t>
            </a:r>
            <a:r>
              <a:rPr sz="1600" b="0">
                <a:solidFill>
                  <a:srgbClr val="000000"/>
                </a:solidFill>
                <a:latin typeface="Times New Roman"/>
              </a:rPr>
              <a:t/>
            </a:r>
          </a:p>
          <a:p>
            <a:pPr>
              <a:spcAft>
                <a:spcPts val="800"/>
              </a:spcAft>
            </a:pPr>
          </a:p>
          <a:p>
            <a:pPr algn="just">
              <a:lnSpc>
                <a:spcPct val="115000"/>
              </a:lnSpc>
            </a:pPr>
            <a:r>
              <a:rPr sz="1600" b="1">
                <a:solidFill>
                  <a:srgbClr val="000000"/>
                </a:solidFill>
                <a:latin typeface="Times New Roman"/>
              </a:rPr>
              <a:t>Authors: </a:t>
            </a:r>
            <a:r>
              <a:rPr sz="1600" b="0">
                <a:solidFill>
                  <a:srgbClr val="000000"/>
                </a:solidFill>
                <a:latin typeface="Times New Roman"/>
              </a:rPr>
              <a:t>K.Patel</a:t>
            </a:r>
          </a:p>
          <a:p>
            <a:pPr>
              <a:spcAft>
                <a:spcPts val="800"/>
              </a:spcAft>
            </a:pPr>
          </a:p>
          <a:p>
            <a:pPr algn="just">
              <a:lnSpc>
                <a:spcPct val="115000"/>
              </a:lnSpc>
            </a:pPr>
            <a:r>
              <a:rPr sz="1600" b="1">
                <a:solidFill>
                  <a:srgbClr val="000000"/>
                </a:solidFill>
                <a:latin typeface="Times New Roman"/>
              </a:rPr>
              <a:t>Year: </a:t>
            </a:r>
            <a:r>
              <a:rPr sz="1600" b="0">
                <a:solidFill>
                  <a:srgbClr val="000000"/>
                </a:solidFill>
                <a:latin typeface="Times New Roman"/>
              </a:rPr>
              <a:t>2023</a:t>
            </a:r>
          </a:p>
          <a:p>
            <a:pPr>
              <a:spcAft>
                <a:spcPts val="800"/>
              </a:spcAft>
            </a:pPr>
          </a:p>
          <a:p>
            <a:pPr algn="just">
              <a:lnSpc>
                <a:spcPct val="115000"/>
              </a:lnSpc>
            </a:pPr>
            <a:r>
              <a:rPr sz="1600" b="1">
                <a:solidFill>
                  <a:srgbClr val="000000"/>
                </a:solidFill>
                <a:latin typeface="Times New Roman"/>
              </a:rPr>
              <a:t>Topics Covered: </a:t>
            </a:r>
            <a:r>
              <a:rPr sz="1600" b="0">
                <a:solidFill>
                  <a:srgbClr val="000000"/>
                </a:solidFill>
                <a:latin typeface="Times New Roman"/>
              </a:rPr>
              <a:t>Topics Covered: Multilingual chatbot design, rule-based interaction models, educational query handling, accuracy-focused chatbot systems.</a:t>
            </a:r>
          </a:p>
          <a:p>
            <a:pPr>
              <a:spcAft>
                <a:spcPts val="800"/>
              </a:spcAft>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7</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Literature survey</a:t>
            </a:r>
          </a:p>
        </p:txBody>
      </p:sp>
      <p:sp>
        <p:nvSpPr>
          <p:cNvPr id="8" name="TextBox 7"/>
          <p:cNvSpPr txBox="1"/>
          <p:nvPr/>
        </p:nvSpPr>
        <p:spPr>
          <a:xfrm>
            <a:off x="1261872" y="1005840"/>
            <a:ext cx="7333488" cy="5029200"/>
          </a:xfrm>
          <a:prstGeom prst="rect">
            <a:avLst/>
          </a:prstGeom>
          <a:noFill/>
        </p:spPr>
        <p:txBody>
          <a:bodyPr wrap="square">
            <a:spAutoFit/>
          </a:bodyPr>
          <a:lstStyle/>
          <a:p>
            <a:pPr algn="just">
              <a:lnSpc>
                <a:spcPct val="115000"/>
              </a:lnSpc>
            </a:pPr>
            <a:r>
              <a:rPr sz="1600" b="1">
                <a:solidFill>
                  <a:srgbClr val="000000"/>
                </a:solidFill>
                <a:latin typeface="Times New Roman"/>
              </a:rPr>
              <a:t>"“Multilingual Chatbot for Educational Institutions Using StructuredData”."</a:t>
            </a:r>
            <a:r>
              <a:rPr sz="1600" b="0">
                <a:solidFill>
                  <a:srgbClr val="000000"/>
                </a:solidFill>
                <a:latin typeface="Times New Roman"/>
              </a:rPr>
              <a:t/>
            </a:r>
          </a:p>
          <a:p>
            <a:pPr>
              <a:spcAft>
                <a:spcPts val="800"/>
              </a:spcAft>
            </a:pPr>
          </a:p>
          <a:p>
            <a:pPr algn="just">
              <a:lnSpc>
                <a:spcPct val="115000"/>
              </a:lnSpc>
            </a:pPr>
            <a:r>
              <a:rPr sz="1600" b="1">
                <a:solidFill>
                  <a:srgbClr val="000000"/>
                </a:solidFill>
                <a:latin typeface="Times New Roman"/>
              </a:rPr>
              <a:t>Authors: </a:t>
            </a:r>
            <a:r>
              <a:rPr sz="1600" b="0">
                <a:solidFill>
                  <a:srgbClr val="000000"/>
                </a:solidFill>
                <a:latin typeface="Times New Roman"/>
              </a:rPr>
              <a:t>K.Patel</a:t>
            </a:r>
          </a:p>
          <a:p>
            <a:pPr>
              <a:spcAft>
                <a:spcPts val="800"/>
              </a:spcAft>
            </a:pPr>
          </a:p>
          <a:p>
            <a:pPr algn="just">
              <a:lnSpc>
                <a:spcPct val="115000"/>
              </a:lnSpc>
            </a:pPr>
            <a:r>
              <a:rPr sz="1600" b="1">
                <a:solidFill>
                  <a:srgbClr val="000000"/>
                </a:solidFill>
                <a:latin typeface="Times New Roman"/>
              </a:rPr>
              <a:t>Year: </a:t>
            </a:r>
            <a:r>
              <a:rPr sz="1600" b="0">
                <a:solidFill>
                  <a:srgbClr val="000000"/>
                </a:solidFill>
                <a:latin typeface="Times New Roman"/>
              </a:rPr>
              <a:t>2016</a:t>
            </a:r>
          </a:p>
          <a:p>
            <a:pPr>
              <a:spcAft>
                <a:spcPts val="800"/>
              </a:spcAft>
            </a:pPr>
          </a:p>
          <a:p>
            <a:pPr algn="just">
              <a:lnSpc>
                <a:spcPct val="115000"/>
              </a:lnSpc>
            </a:pPr>
            <a:r>
              <a:rPr sz="1600" b="1">
                <a:solidFill>
                  <a:srgbClr val="000000"/>
                </a:solidFill>
                <a:latin typeface="Times New Roman"/>
              </a:rPr>
              <a:t>Topics Covered: </a:t>
            </a:r>
            <a:r>
              <a:rPr sz="1600" b="0">
                <a:solidFill>
                  <a:srgbClr val="000000"/>
                </a:solidFill>
                <a:latin typeface="Times New Roman"/>
              </a:rPr>
              <a:t>Topics Covered: Multilingual chatbot design, rule-based interaction models, educational query handling, accuracy-focused chatbot systems.</a:t>
            </a:r>
          </a:p>
          <a:p>
            <a:pPr>
              <a:spcAft>
                <a:spcPts val="800"/>
              </a:spcAft>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8</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Literature survey</a:t>
            </a:r>
          </a:p>
        </p:txBody>
      </p:sp>
      <p:sp>
        <p:nvSpPr>
          <p:cNvPr id="8" name="TextBox 7"/>
          <p:cNvSpPr txBox="1"/>
          <p:nvPr/>
        </p:nvSpPr>
        <p:spPr>
          <a:xfrm>
            <a:off x="1261872" y="1005840"/>
            <a:ext cx="7333488" cy="5029200"/>
          </a:xfrm>
          <a:prstGeom prst="rect">
            <a:avLst/>
          </a:prstGeom>
          <a:noFill/>
        </p:spPr>
        <p:txBody>
          <a:bodyPr wrap="square">
            <a:spAutoFit/>
          </a:bodyPr>
          <a:lstStyle/>
          <a:p>
            <a:pPr algn="just">
              <a:lnSpc>
                <a:spcPct val="115000"/>
              </a:lnSpc>
            </a:pPr>
            <a:r>
              <a:rPr sz="1600" b="1">
                <a:solidFill>
                  <a:srgbClr val="000000"/>
                </a:solidFill>
                <a:latin typeface="Times New Roman"/>
              </a:rPr>
              <a:t>"“Multilingual Chatbot for Educational Institutions Using StructuredData”."</a:t>
            </a:r>
            <a:r>
              <a:rPr sz="1600" b="0">
                <a:solidFill>
                  <a:srgbClr val="000000"/>
                </a:solidFill>
                <a:latin typeface="Times New Roman"/>
              </a:rPr>
              <a:t/>
            </a:r>
          </a:p>
          <a:p>
            <a:pPr>
              <a:spcAft>
                <a:spcPts val="800"/>
              </a:spcAft>
            </a:pPr>
          </a:p>
          <a:p>
            <a:pPr algn="just">
              <a:lnSpc>
                <a:spcPct val="115000"/>
              </a:lnSpc>
            </a:pPr>
            <a:r>
              <a:rPr sz="1600" b="1">
                <a:solidFill>
                  <a:srgbClr val="000000"/>
                </a:solidFill>
                <a:latin typeface="Times New Roman"/>
              </a:rPr>
              <a:t>Authors: </a:t>
            </a:r>
            <a:r>
              <a:rPr sz="1600" b="0">
                <a:solidFill>
                  <a:srgbClr val="000000"/>
                </a:solidFill>
                <a:latin typeface="Times New Roman"/>
              </a:rPr>
              <a:t>k.patel</a:t>
            </a:r>
          </a:p>
          <a:p>
            <a:pPr>
              <a:spcAft>
                <a:spcPts val="800"/>
              </a:spcAft>
            </a:pPr>
          </a:p>
          <a:p>
            <a:pPr algn="just">
              <a:lnSpc>
                <a:spcPct val="115000"/>
              </a:lnSpc>
            </a:pPr>
            <a:r>
              <a:rPr sz="1600" b="1">
                <a:solidFill>
                  <a:srgbClr val="000000"/>
                </a:solidFill>
                <a:latin typeface="Times New Roman"/>
              </a:rPr>
              <a:t>Year: </a:t>
            </a:r>
            <a:r>
              <a:rPr sz="1600" b="0">
                <a:solidFill>
                  <a:srgbClr val="000000"/>
                </a:solidFill>
                <a:latin typeface="Times New Roman"/>
              </a:rPr>
              <a:t>2023</a:t>
            </a:r>
          </a:p>
          <a:p>
            <a:pPr>
              <a:spcAft>
                <a:spcPts val="800"/>
              </a:spcAft>
            </a:pPr>
          </a:p>
          <a:p>
            <a:pPr algn="just">
              <a:lnSpc>
                <a:spcPct val="115000"/>
              </a:lnSpc>
            </a:pPr>
            <a:r>
              <a:rPr sz="1600" b="1">
                <a:solidFill>
                  <a:srgbClr val="000000"/>
                </a:solidFill>
                <a:latin typeface="Times New Roman"/>
              </a:rPr>
              <a:t>Topics Covered: </a:t>
            </a:r>
            <a:r>
              <a:rPr sz="1600" b="0">
                <a:solidFill>
                  <a:srgbClr val="000000"/>
                </a:solidFill>
                <a:latin typeface="Times New Roman"/>
              </a:rPr>
              <a:t>Topics Covered: Multilingual chatbot design, rule-based interaction models, educational query handling, accuracy-focused chatbot systems.</a:t>
            </a:r>
          </a:p>
          <a:p>
            <a:pPr>
              <a:spcAft>
                <a:spcPts val="800"/>
              </a:spcAft>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9</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Existing System</a:t>
            </a:r>
          </a:p>
        </p:txBody>
      </p:sp>
      <p:sp>
        <p:nvSpPr>
          <p:cNvPr id="8" name="TextBox 7"/>
          <p:cNvSpPr txBox="1"/>
          <p:nvPr/>
        </p:nvSpPr>
        <p:spPr>
          <a:xfrm>
            <a:off x="1261872" y="914400"/>
            <a:ext cx="7333488" cy="5394960"/>
          </a:xfrm>
          <a:prstGeom prst="rect">
            <a:avLst/>
          </a:prstGeom>
          <a:noFill/>
        </p:spPr>
        <p:txBody>
          <a:bodyPr wrap="square">
            <a:spAutoFit/>
          </a:bodyPr>
          <a:lstStyle/>
          <a:p>
            <a:pPr algn="just">
              <a:lnSpc>
                <a:spcPct val="115000"/>
              </a:lnSpc>
              <a:spcAft>
                <a:spcPts val="600"/>
              </a:spcAft>
            </a:pPr>
            <a:r>
              <a:rPr sz="1600" b="1">
                <a:solidFill>
                  <a:srgbClr val="000000"/>
                </a:solidFill>
                <a:latin typeface="Times New Roman"/>
              </a:rPr>
              <a:t>1. Static College Websites</a:t>
            </a:r>
            <a:r>
              <a:rPr sz="1600" b="0">
                <a:solidFill>
                  <a:srgbClr val="000000"/>
                </a:solidFill>
                <a:latin typeface="Times New Roman"/>
              </a:rPr>
              <a:t> Provides information through static web pages and PDFs, requiring technical updates and offering no interactive support.</a:t>
            </a:r>
          </a:p>
          <a:p>
            <a:pPr algn="just">
              <a:lnSpc>
                <a:spcPct val="115000"/>
              </a:lnSpc>
              <a:spcAft>
                <a:spcPts val="600"/>
              </a:spcAft>
            </a:pPr>
            <a:r>
              <a:rPr sz="1600" b="1">
                <a:solidFill>
                  <a:srgbClr val="000000"/>
                </a:solidFill>
                <a:latin typeface="Times New Roman"/>
              </a:rPr>
              <a:t>2. Manual Enquiry Counters</a:t>
            </a:r>
            <a:r>
              <a:rPr sz="1600" b="0">
                <a:solidFill>
                  <a:srgbClr val="000000"/>
                </a:solidFill>
                <a:latin typeface="Times New Roman"/>
              </a:rPr>
              <a:t> Students and parents must visit college offices to obtain information, leading to queues and time consumption.</a:t>
            </a:r>
          </a:p>
          <a:p>
            <a:pPr algn="just">
              <a:lnSpc>
                <a:spcPct val="115000"/>
              </a:lnSpc>
              <a:spcAft>
                <a:spcPts val="600"/>
              </a:spcAft>
            </a:pPr>
            <a:r>
              <a:rPr sz="1600" b="1">
                <a:solidFill>
                  <a:srgbClr val="000000"/>
                </a:solidFill>
                <a:latin typeface="Times New Roman"/>
              </a:rPr>
              <a:t>3. Phone-Based Enquiry Systems</a:t>
            </a:r>
            <a:r>
              <a:rPr sz="1600" b="0">
                <a:solidFill>
                  <a:srgbClr val="000000"/>
                </a:solidFill>
                <a:latin typeface="Times New Roman"/>
              </a:rPr>
              <a:t> Queries are handled through phone calls during limited office hours, increasing staff workload.</a:t>
            </a:r>
          </a:p>
          <a:p>
            <a:pPr algn="just">
              <a:lnSpc>
                <a:spcPct val="115000"/>
              </a:lnSpc>
              <a:spcAft>
                <a:spcPts val="600"/>
              </a:spcAft>
            </a:pPr>
            <a:r>
              <a:rPr sz="1600" b="1">
                <a:solidFill>
                  <a:srgbClr val="000000"/>
                </a:solidFill>
                <a:latin typeface="Times New Roman"/>
              </a:rPr>
              <a:t>4. Email-Based Communication</a:t>
            </a:r>
            <a:r>
              <a:rPr sz="1600" b="0">
                <a:solidFill>
                  <a:srgbClr val="000000"/>
                </a:solidFill>
                <a:latin typeface="Times New Roman"/>
              </a:rPr>
              <a:t> Information requests are sent via email, resulting in delayed responses and inefficiency.</a:t>
            </a:r>
          </a:p>
          <a:p>
            <a:pPr algn="just">
              <a:lnSpc>
                <a:spcPct val="115000"/>
              </a:lnSpc>
              <a:spcAft>
                <a:spcPts val="600"/>
              </a:spcAft>
            </a:pPr>
            <a:r>
              <a:rPr sz="1600" b="1">
                <a:solidFill>
                  <a:srgbClr val="000000"/>
                </a:solidFill>
                <a:latin typeface="Times New Roman"/>
              </a:rPr>
              <a:t>5. English-Only Information Systems</a:t>
            </a:r>
            <a:r>
              <a:rPr sz="1600" b="0">
                <a:solidFill>
                  <a:srgbClr val="000000"/>
                </a:solidFill>
                <a:latin typeface="Times New Roman"/>
              </a:rPr>
              <a:t> Most content is available only in English, creating accessibility issues for regional language users.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10</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Proposed System</a:t>
            </a:r>
          </a:p>
        </p:txBody>
      </p:sp>
      <p:sp>
        <p:nvSpPr>
          <p:cNvPr id="8" name="TextBox 7"/>
          <p:cNvSpPr txBox="1"/>
          <p:nvPr/>
        </p:nvSpPr>
        <p:spPr>
          <a:xfrm>
            <a:off x="1261872" y="914400"/>
            <a:ext cx="7333488" cy="5394960"/>
          </a:xfrm>
          <a:prstGeom prst="rect">
            <a:avLst/>
          </a:prstGeom>
          <a:noFill/>
        </p:spPr>
        <p:txBody>
          <a:bodyPr wrap="square">
            <a:spAutoFit/>
          </a:bodyPr>
          <a:lstStyle/>
          <a:p>
            <a:pPr algn="just">
              <a:lnSpc>
                <a:spcPct val="115000"/>
              </a:lnSpc>
              <a:spcAft>
                <a:spcPts val="600"/>
              </a:spcAft>
            </a:pPr>
            <a:r>
              <a:rPr sz="1600" b="1">
                <a:solidFill>
                  <a:srgbClr val="000000"/>
                </a:solidFill>
                <a:latin typeface="Times New Roman"/>
              </a:rPr>
              <a:t>1. Dynamic College Website</a:t>
            </a:r>
            <a:r>
              <a:rPr sz="1600" b="0">
                <a:solidFill>
                  <a:srgbClr val="000000"/>
                </a:solidFill>
                <a:latin typeface="Times New Roman"/>
              </a:rPr>
              <a:t> Provides real-time, database-driven content updates without technical intervention.</a:t>
            </a:r>
          </a:p>
          <a:p>
            <a:pPr algn="just">
              <a:lnSpc>
                <a:spcPct val="115000"/>
              </a:lnSpc>
              <a:spcAft>
                <a:spcPts val="600"/>
              </a:spcAft>
            </a:pPr>
            <a:r>
              <a:rPr sz="1600" b="1">
                <a:solidFill>
                  <a:srgbClr val="000000"/>
                </a:solidFill>
                <a:latin typeface="Times New Roman"/>
              </a:rPr>
              <a:t>2. Multilingual Chatbot Integration</a:t>
            </a:r>
            <a:r>
              <a:rPr sz="1600" b="0">
                <a:solidFill>
                  <a:srgbClr val="000000"/>
                </a:solidFill>
                <a:latin typeface="Times New Roman"/>
              </a:rPr>
              <a:t> Offers structured, accurate responses in multiple languages through guided interactions.</a:t>
            </a:r>
          </a:p>
          <a:p>
            <a:pPr algn="just">
              <a:lnSpc>
                <a:spcPct val="115000"/>
              </a:lnSpc>
              <a:spcAft>
                <a:spcPts val="600"/>
              </a:spcAft>
            </a:pPr>
            <a:r>
              <a:rPr sz="1600" b="1">
                <a:solidFill>
                  <a:srgbClr val="000000"/>
                </a:solidFill>
                <a:latin typeface="Times New Roman"/>
              </a:rPr>
              <a:t>3. Centralized Data Management</a:t>
            </a:r>
            <a:r>
              <a:rPr sz="1600" b="0">
                <a:solidFill>
                  <a:srgbClr val="000000"/>
                </a:solidFill>
                <a:latin typeface="Times New Roman"/>
              </a:rPr>
              <a:t> Uses a single, verified dataset to ensure consistency and reliability of information.</a:t>
            </a:r>
          </a:p>
          <a:p>
            <a:pPr algn="just">
              <a:lnSpc>
                <a:spcPct val="115000"/>
              </a:lnSpc>
              <a:spcAft>
                <a:spcPts val="600"/>
              </a:spcAft>
            </a:pPr>
            <a:r>
              <a:rPr sz="1600" b="1">
                <a:solidFill>
                  <a:srgbClr val="000000"/>
                </a:solidFill>
                <a:latin typeface="Times New Roman"/>
              </a:rPr>
              <a:t>4. Automated Query Handling</a:t>
            </a:r>
            <a:r>
              <a:rPr sz="1600" b="0">
                <a:solidFill>
                  <a:srgbClr val="000000"/>
                </a:solidFill>
                <a:latin typeface="Times New Roman"/>
              </a:rPr>
              <a:t> Delivers 24×7 instant responses, reducing repetitive administrative workload.</a:t>
            </a:r>
          </a:p>
          <a:p>
            <a:pPr algn="just">
              <a:lnSpc>
                <a:spcPct val="115000"/>
              </a:lnSpc>
              <a:spcAft>
                <a:spcPts val="600"/>
              </a:spcAft>
            </a:pPr>
            <a:r>
              <a:rPr sz="1600" b="1">
                <a:solidFill>
                  <a:srgbClr val="000000"/>
                </a:solidFill>
                <a:latin typeface="Times New Roman"/>
              </a:rPr>
              <a:t>5. Scalable and Secure Architecture</a:t>
            </a:r>
            <a:r>
              <a:rPr sz="1600" b="0">
                <a:solidFill>
                  <a:srgbClr val="000000"/>
                </a:solidFill>
                <a:latin typeface="Times New Roman"/>
              </a:rPr>
              <a:t> Supports future enhancements such as IVR, additional languages, and cloud deployment.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11</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Architecture</a:t>
            </a:r>
          </a:p>
        </p:txBody>
      </p:sp>
      <p:pic>
        <p:nvPicPr>
          <p:cNvPr id="8" name="Picture 7" descr="000_architechture sample.jpg"/>
          <p:cNvPicPr>
            <a:picLocks noChangeAspect="1"/>
          </p:cNvPicPr>
          <p:nvPr/>
        </p:nvPicPr>
        <p:blipFill>
          <a:blip r:embed="rId2"/>
          <a:stretch>
            <a:fillRect/>
          </a:stretch>
        </p:blipFill>
        <p:spPr>
          <a:xfrm>
            <a:off x="2381865" y="1005840"/>
            <a:ext cx="4380270" cy="4937760"/>
          </a:xfrm>
          <a:prstGeom prst="rect">
            <a:avLst/>
          </a:prstGeom>
        </p:spPr>
      </p:pic>
      <p:sp>
        <p:nvSpPr>
          <p:cNvPr id="9" name="TextBox 8"/>
          <p:cNvSpPr txBox="1"/>
          <p:nvPr/>
        </p:nvSpPr>
        <p:spPr>
          <a:xfrm>
            <a:off x="1261872" y="6035040"/>
            <a:ext cx="7333488" cy="320040"/>
          </a:xfrm>
          <a:prstGeom prst="rect">
            <a:avLst/>
          </a:prstGeom>
          <a:noFill/>
        </p:spPr>
        <p:txBody>
          <a:bodyPr wrap="none">
            <a:spAutoFit/>
          </a:bodyPr>
          <a:lstStyle/>
          <a:p>
            <a:pPr algn="ctr"/>
            <a:r>
              <a:rPr sz="1400" b="0">
                <a:solidFill>
                  <a:srgbClr val="000000"/>
                </a:solidFill>
                <a:latin typeface="Times New Roman"/>
              </a:rPr>
              <a:t>Figure 1: architecture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12</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Implementation</a:t>
            </a:r>
          </a:p>
        </p:txBody>
      </p:sp>
      <p:pic>
        <p:nvPicPr>
          <p:cNvPr id="8" name="Picture 7" descr="000_Screenshot 2026-05-22 225539.png"/>
          <p:cNvPicPr>
            <a:picLocks noChangeAspect="1"/>
          </p:cNvPicPr>
          <p:nvPr/>
        </p:nvPicPr>
        <p:blipFill>
          <a:blip r:embed="rId2"/>
          <a:stretch>
            <a:fillRect/>
          </a:stretch>
        </p:blipFill>
        <p:spPr>
          <a:xfrm>
            <a:off x="1261872" y="1852978"/>
            <a:ext cx="3474720" cy="2603404"/>
          </a:xfrm>
          <a:prstGeom prst="rect">
            <a:avLst/>
          </a:prstGeom>
        </p:spPr>
      </p:pic>
      <p:sp>
        <p:nvSpPr>
          <p:cNvPr id="9" name="TextBox 8"/>
          <p:cNvSpPr txBox="1"/>
          <p:nvPr/>
        </p:nvSpPr>
        <p:spPr>
          <a:xfrm>
            <a:off x="1261872" y="5303520"/>
            <a:ext cx="3474720" cy="365760"/>
          </a:xfrm>
          <a:prstGeom prst="rect">
            <a:avLst/>
          </a:prstGeom>
          <a:noFill/>
        </p:spPr>
        <p:txBody>
          <a:bodyPr wrap="square">
            <a:spAutoFit/>
          </a:bodyPr>
          <a:lstStyle/>
          <a:p>
            <a:pPr algn="ctr"/>
            <a:r>
              <a:rPr sz="1200">
                <a:latin typeface="Times New Roman"/>
              </a:rPr>
              <a:t>Figure 1: output 1</a:t>
            </a:r>
          </a:p>
        </p:txBody>
      </p:sp>
      <p:pic>
        <p:nvPicPr>
          <p:cNvPr id="10" name="Picture 9" descr="001_Screenshot 2026-05-22 225546.png"/>
          <p:cNvPicPr>
            <a:picLocks noChangeAspect="1"/>
          </p:cNvPicPr>
          <p:nvPr/>
        </p:nvPicPr>
        <p:blipFill>
          <a:blip r:embed="rId3"/>
          <a:stretch>
            <a:fillRect/>
          </a:stretch>
        </p:blipFill>
        <p:spPr>
          <a:xfrm>
            <a:off x="5102352" y="1842362"/>
            <a:ext cx="3474720" cy="2624635"/>
          </a:xfrm>
          <a:prstGeom prst="rect">
            <a:avLst/>
          </a:prstGeom>
        </p:spPr>
      </p:pic>
      <p:sp>
        <p:nvSpPr>
          <p:cNvPr id="11" name="TextBox 10"/>
          <p:cNvSpPr txBox="1"/>
          <p:nvPr/>
        </p:nvSpPr>
        <p:spPr>
          <a:xfrm>
            <a:off x="5102352" y="5303520"/>
            <a:ext cx="3474720" cy="365760"/>
          </a:xfrm>
          <a:prstGeom prst="rect">
            <a:avLst/>
          </a:prstGeom>
          <a:noFill/>
        </p:spPr>
        <p:txBody>
          <a:bodyPr wrap="square">
            <a:spAutoFit/>
          </a:bodyPr>
          <a:lstStyle/>
          <a:p>
            <a:pPr algn="ctr"/>
            <a:r>
              <a:rPr sz="1200">
                <a:latin typeface="Times New Roman"/>
              </a:rPr>
              <a:t>Figure 2: output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